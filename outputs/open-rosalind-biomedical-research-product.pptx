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054fae3d6b44f1" /><Relationship Type="http://schemas.openxmlformats.org/officeDocument/2006/relationships/extended-properties" Target="/docProps/app.xml" Id="R22cec69f9fbb4cc8" /><Relationship Type="http://schemas.openxmlformats.org/officeDocument/2006/relationships/officeDocument" Target="/ppt/presentation.xml" Id="R81825666726f44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2beacb54f1451c"/>
  </p:sldMasterIdLst>
  <p:notesMasterIdLst>
    <p:notesMasterId xmlns:r="http://schemas.openxmlformats.org/officeDocument/2006/relationships" r:id="Rabab08e7839441f3"/>
  </p:notesMasterIdLst>
  <p:sldIdLst>
    <p:sldId xmlns:r="http://schemas.openxmlformats.org/officeDocument/2006/relationships" id="256" r:id="R73b3735db99c45e5"/>
    <p:sldId xmlns:r="http://schemas.openxmlformats.org/officeDocument/2006/relationships" id="257" r:id="R5537f5648bfa4b4a"/>
    <p:sldId xmlns:r="http://schemas.openxmlformats.org/officeDocument/2006/relationships" id="258" r:id="Rbda8030a2b654ba7"/>
    <p:sldId xmlns:r="http://schemas.openxmlformats.org/officeDocument/2006/relationships" id="259" r:id="R9a2eeed9a5664ba1"/>
    <p:sldId xmlns:r="http://schemas.openxmlformats.org/officeDocument/2006/relationships" id="260" r:id="R53c01f4cb3c044d9"/>
    <p:sldId xmlns:r="http://schemas.openxmlformats.org/officeDocument/2006/relationships" id="261" r:id="R57edcda75cc94ec7"/>
    <p:sldId xmlns:r="http://schemas.openxmlformats.org/officeDocument/2006/relationships" id="262" r:id="Re59e176580ee46ae"/>
    <p:sldId xmlns:r="http://schemas.openxmlformats.org/officeDocument/2006/relationships" id="263" r:id="R84ec1dcaa7a04442"/>
    <p:sldId xmlns:r="http://schemas.openxmlformats.org/officeDocument/2006/relationships" id="264" r:id="R41143482b9474750"/>
    <p:sldId xmlns:r="http://schemas.openxmlformats.org/officeDocument/2006/relationships" id="265" r:id="R4a38eefb55474415"/>
    <p:sldId xmlns:r="http://schemas.openxmlformats.org/officeDocument/2006/relationships" id="266" r:id="R347d73d721fb494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2cf1f2d4984355" /><Relationship Type="http://schemas.openxmlformats.org/officeDocument/2006/relationships/slideMaster" Target="/ppt/slideMasters/slideMaster1.xml" Id="R602beacb54f1451c" /><Relationship Type="http://schemas.openxmlformats.org/officeDocument/2006/relationships/notesMaster" Target="/ppt/notesMasters/notesMaster1.xml" Id="Rabab08e7839441f3" /><Relationship Type="http://schemas.openxmlformats.org/officeDocument/2006/relationships/presProps" Target="/ppt/presProps.xml" Id="R95a8e232e7e14640" /><Relationship Type="http://schemas.openxmlformats.org/officeDocument/2006/relationships/tableStyles" Target="/ppt/tableStyles.xml" Id="R93887c492a05478a" /><Relationship Type="http://schemas.openxmlformats.org/officeDocument/2006/relationships/slide" Target="/ppt/slides/slide1.xml" Id="R73b3735db99c45e5" /><Relationship Type="http://schemas.openxmlformats.org/officeDocument/2006/relationships/slide" Target="/ppt/slides/slide2.xml" Id="R5537f5648bfa4b4a" /><Relationship Type="http://schemas.openxmlformats.org/officeDocument/2006/relationships/slide" Target="/ppt/slides/slide3.xml" Id="Rbda8030a2b654ba7" /><Relationship Type="http://schemas.openxmlformats.org/officeDocument/2006/relationships/slide" Target="/ppt/slides/slide4.xml" Id="R9a2eeed9a5664ba1" /><Relationship Type="http://schemas.openxmlformats.org/officeDocument/2006/relationships/slide" Target="/ppt/slides/slide5.xml" Id="R53c01f4cb3c044d9" /><Relationship Type="http://schemas.openxmlformats.org/officeDocument/2006/relationships/slide" Target="/ppt/slides/slide6.xml" Id="R57edcda75cc94ec7" /><Relationship Type="http://schemas.openxmlformats.org/officeDocument/2006/relationships/slide" Target="/ppt/slides/slide7.xml" Id="Re59e176580ee46ae" /><Relationship Type="http://schemas.openxmlformats.org/officeDocument/2006/relationships/slide" Target="/ppt/slides/slide8.xml" Id="R84ec1dcaa7a04442" /><Relationship Type="http://schemas.openxmlformats.org/officeDocument/2006/relationships/slide" Target="/ppt/slides/slide9.xml" Id="R41143482b9474750" /><Relationship Type="http://schemas.openxmlformats.org/officeDocument/2006/relationships/slide" Target="/ppt/slides/slide10.xml" Id="R4a38eefb55474415" /><Relationship Type="http://schemas.openxmlformats.org/officeDocument/2006/relationships/slide" Target="/ppt/slides/slide11.xml" Id="R347d73d721fb49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87673a0d4644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261cbf9d374192" /><Relationship Type="http://schemas.openxmlformats.org/officeDocument/2006/relationships/notesMaster" Target="/ppt/notesMasters/notesMaster1.xml" Id="Rbb2f9aff1a7b41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4568d42b1e4380" /><Relationship Type="http://schemas.openxmlformats.org/officeDocument/2006/relationships/notesMaster" Target="/ppt/notesMasters/notesMaster1.xml" Id="Rdf8bee96a85f40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9a174b11534b6d" /><Relationship Type="http://schemas.openxmlformats.org/officeDocument/2006/relationships/notesMaster" Target="/ppt/notesMasters/notesMaster1.xml" Id="Rd6626f1034704f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292419a2c74b92" /><Relationship Type="http://schemas.openxmlformats.org/officeDocument/2006/relationships/notesMaster" Target="/ppt/notesMasters/notesMaster1.xml" Id="R97c24a3c0dea4e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b7a2c0cc864bc3" /><Relationship Type="http://schemas.openxmlformats.org/officeDocument/2006/relationships/notesMaster" Target="/ppt/notesMasters/notesMaster1.xml" Id="Rc60ba14c83f74c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43e721c0344a54" /><Relationship Type="http://schemas.openxmlformats.org/officeDocument/2006/relationships/notesMaster" Target="/ppt/notesMasters/notesMaster1.xml" Id="R937b3cfda49446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ea27fec41f4996" /><Relationship Type="http://schemas.openxmlformats.org/officeDocument/2006/relationships/notesMaster" Target="/ppt/notesMasters/notesMaster1.xml" Id="Rd49976e08e794a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3078b815654705" /><Relationship Type="http://schemas.openxmlformats.org/officeDocument/2006/relationships/notesMaster" Target="/ppt/notesMasters/notesMaster1.xml" Id="R4745693fce1548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ff9114220d4249" /><Relationship Type="http://schemas.openxmlformats.org/officeDocument/2006/relationships/notesMaster" Target="/ppt/notesMasters/notesMaster1.xml" Id="R90104db8ecd34a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69a0e9d2c34f99" /><Relationship Type="http://schemas.openxmlformats.org/officeDocument/2006/relationships/notesMaster" Target="/ppt/notesMasters/notesMaster1.xml" Id="Reb93804351804e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33e152b8204ceb" /><Relationship Type="http://schemas.openxmlformats.org/officeDocument/2006/relationships/notesMaster" Target="/ppt/notesMasters/notesMaster1.xml" Id="R30307310cece44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152c69d2a04d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7429db5af7411e" /><Relationship Type="http://schemas.openxmlformats.org/officeDocument/2006/relationships/slideLayout" Target="/ppt/slideLayouts/slideLayout1.xml" Id="R2e4e1992a39a4f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4e1992a39a4f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91f364b8b49ef" /><Relationship Type="http://schemas.openxmlformats.org/officeDocument/2006/relationships/image" Target="/ppt/media/image.png" Id="Rc16b7dad2a1646ee" /><Relationship Type="http://schemas.openxmlformats.org/officeDocument/2006/relationships/notesSlide" Target="/ppt/notesSlides/notesSlide1.xml" Id="R7e6fef6f51744f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533c5a5524d81" /><Relationship Type="http://schemas.openxmlformats.org/officeDocument/2006/relationships/notesSlide" Target="/ppt/notesSlides/notesSlide2.xml" Id="R33a0469f0f4d4b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9a52a5c8344c7" /><Relationship Type="http://schemas.openxmlformats.org/officeDocument/2006/relationships/notesSlide" Target="/ppt/notesSlides/notesSlide3.xml" Id="R01e992ff4f914d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8ed405e6f4872" /><Relationship Type="http://schemas.openxmlformats.org/officeDocument/2006/relationships/notesSlide" Target="/ppt/notesSlides/notesSlide4.xml" Id="Rb98151353b6948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aa9a77d9049c7" /><Relationship Type="http://schemas.openxmlformats.org/officeDocument/2006/relationships/notesSlide" Target="/ppt/notesSlides/notesSlide5.xml" Id="R3ed510b9ec2a41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316fdce104128" /><Relationship Type="http://schemas.openxmlformats.org/officeDocument/2006/relationships/notesSlide" Target="/ppt/notesSlides/notesSlide6.xml" Id="R0c2e8141a2d344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5d15d699e4f42" /><Relationship Type="http://schemas.openxmlformats.org/officeDocument/2006/relationships/notesSlide" Target="/ppt/notesSlides/notesSlide7.xml" Id="Rece1d7a3ed904a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4822f9af64933" /><Relationship Type="http://schemas.openxmlformats.org/officeDocument/2006/relationships/notesSlide" Target="/ppt/notesSlides/notesSlide8.xml" Id="Rdefbf8e5854f45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5c8d882434343" /><Relationship Type="http://schemas.openxmlformats.org/officeDocument/2006/relationships/notesSlide" Target="/ppt/notesSlides/notesSlide9.xml" Id="R33853c4e7cbf49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1ad48b4f24d71" /><Relationship Type="http://schemas.openxmlformats.org/officeDocument/2006/relationships/notesSlide" Target="/ppt/notesSlides/notesSlide10.xml" Id="Ra6fdf1a6bba74d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81e7fce7c4645" /><Relationship Type="http://schemas.openxmlformats.org/officeDocument/2006/relationships/notesSlide" Target="/ppt/notesSlides/notesSlide11.xml" Id="R1ea47909e19643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b7dad2a1646e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B51CB-1252-4F91-8DCE-9563AC1C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0B12F-0F49-43B5-A53C-99AEFF0A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2FF17-4935-4B11-B9E2-A764A63E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1D"/>
                </a:solidFill>
              </a:defRPr>
            </a:pPr>
            <a:r>
              <a:rPr sz="3900" b="1">
                <a:solidFill>
                  <a:srgbClr val="17201D"/>
                </a:solidFill>
              </a:rPr>
              <a:t>Open Rosalind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7324E-08BC-4CC3-ABAF-8CA50115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24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D"/>
                </a:solidFill>
              </a:defRPr>
            </a:pPr>
            <a:r>
              <a:rPr sz="2550" b="1">
                <a:solidFill>
                  <a:srgbClr val="17201D"/>
                </a:solidFill>
              </a:rPr>
              <a:t>可信、可执行、可追溯的</a:t>
            </a:r>
          </a:p>
          <a:p xmlns:a="http://schemas.openxmlformats.org/drawingml/2006/main">
            <a:pPr algn="l">
              <a:defRPr sz="2550" b="1">
                <a:solidFill>
                  <a:srgbClr val="17201D"/>
                </a:solidFill>
              </a:defRPr>
            </a:pPr>
            <a:r>
              <a:rPr sz="2550" b="1">
                <a:solidFill>
                  <a:srgbClr val="17201D"/>
                </a:solidFill>
              </a:rPr>
              <a:t>生物医学科研智能体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FB258-A2F4-49EB-8385-3916D43C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16C"/>
                </a:solidFill>
              </a:defRPr>
            </a:pPr>
            <a:r>
              <a:rPr sz="1500" b="0">
                <a:solidFill>
                  <a:srgbClr val="64716C"/>
                </a:solidFill>
              </a:rPr>
              <a:t>从论文学习工具，到能够运行代码、核验证据并沉淀研究记忆的科研工作空间。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462A4-815C-4E44-A76A-DA2242F7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产品介绍  ·  2026</a:t>
            </a:r>
          </a:p>
        </p:txBody>
      </p:sp>
    </p:spTree>
    <p:extLst>
      <p:ext uri="{BB962C8B-B14F-4D97-AF65-F5344CB8AC3E}">
        <p14:creationId xmlns:p14="http://schemas.microsoft.com/office/powerpoint/2010/main" val="1024919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15B1CD-370A-4BCF-A944-E42C3050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AD706-0B3C-40BF-B9F4-C46654E2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通用对话模型懂“怎么说”，却无法证明“做过什么”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EDE9F-A623-42D4-AC9A-652686E1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6C"/>
                </a:solidFill>
              </a:defRPr>
            </a:pPr>
            <a:r>
              <a:rPr sz="1350" b="0">
                <a:solidFill>
                  <a:srgbClr val="64716C"/>
                </a:solidFill>
              </a:rPr>
              <a:t>生物医学科研的风险集中在证据、计算与数据边界，而不仅是文本质量。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00543-7164-4A2C-BB4F-68FB996C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030C0-DE00-4789-8ADF-A74A20AF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514600" cy="31623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DEB22-77D2-49CD-83DB-2320E989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CFA68-EFB5-4417-9081-ACF7B9C2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1D"/>
                </a:solidFill>
              </a:defRPr>
            </a:pPr>
            <a:r>
              <a:rPr sz="1875" b="1">
                <a:solidFill>
                  <a:srgbClr val="17201D"/>
                </a:solidFill>
              </a:rPr>
              <a:t>文献幻觉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A2F7F-AAE1-4C26-9357-D860F492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2047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6C"/>
                </a:solidFill>
              </a:defRPr>
            </a:pPr>
            <a:r>
              <a:rPr sz="1275" b="0">
                <a:solidFill>
                  <a:srgbClr val="64716C"/>
                </a:solidFill>
              </a:rPr>
              <a:t>不存在的论文、错误 DOI 与元数据，会直接污染论文可信度。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FE481-A41F-41B4-BB38-63B068F4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43150"/>
            <a:ext cx="2514600" cy="31623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62362-77D8-42AC-9B99-4E844814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3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5A8D8-E5EA-4D30-90AF-5CC47A34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1D"/>
                </a:solidFill>
              </a:defRPr>
            </a:pPr>
            <a:r>
              <a:rPr sz="1875" b="1">
                <a:solidFill>
                  <a:srgbClr val="17201D"/>
                </a:solidFill>
              </a:rPr>
              <a:t>计算断链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454A2-C4A1-40EE-8976-AE07FB10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38550"/>
            <a:ext cx="2047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6C"/>
                </a:solidFill>
              </a:defRPr>
            </a:pPr>
            <a:r>
              <a:rPr sz="1275" b="0">
                <a:solidFill>
                  <a:srgbClr val="64716C"/>
                </a:solidFill>
              </a:rPr>
              <a:t>代码只被生成而未真实运行，结果无法复现，也无法定位错误。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0EC63-7534-4EE9-9A03-1D3AB899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2514600" cy="31623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34722-2BA9-4B59-A9A0-44D4D7D2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1D375D-1C91-424D-893C-49B34AE3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1D"/>
                </a:solidFill>
              </a:defRPr>
            </a:pPr>
            <a:r>
              <a:rPr sz="1875" b="1">
                <a:solidFill>
                  <a:srgbClr val="17201D"/>
                </a:solidFill>
              </a:rPr>
              <a:t>上下文丢失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F4784-844B-4B8E-9183-E8ED7284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2047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6C"/>
                </a:solidFill>
              </a:defRPr>
            </a:pPr>
            <a:r>
              <a:rPr sz="1275" b="0">
                <a:solidFill>
                  <a:srgbClr val="64716C"/>
                </a:solidFill>
              </a:rPr>
              <a:t>跨周、跨文件的研究决策散落在聊天记录，开放问题难以持续追踪。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E646F-805E-4866-ADAC-E98E90B3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43150"/>
            <a:ext cx="2514600" cy="31623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CEDE9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EA489-8CD0-4459-B160-F0FC32DF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3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654F"/>
                </a:solidFill>
              </a:defRPr>
            </a:pPr>
            <a:r>
              <a:rPr sz="1050" b="1">
                <a:solidFill>
                  <a:srgbClr val="D9654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11C145-66C8-473F-86B8-4F65E482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1D"/>
                </a:solidFill>
              </a:defRPr>
            </a:pPr>
            <a:r>
              <a:rPr sz="1875" b="1">
                <a:solidFill>
                  <a:srgbClr val="17201D"/>
                </a:solidFill>
              </a:rPr>
              <a:t>医学高风险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E6169-4633-4869-9D6C-E7BCC8F4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2047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6C"/>
                </a:solidFill>
              </a:defRPr>
            </a:pPr>
            <a:r>
              <a:rPr sz="1275" b="0">
                <a:solidFill>
                  <a:srgbClr val="64716C"/>
                </a:solidFill>
              </a:rPr>
              <a:t>因果、疗效、安全性和诊断结论需要更严格的证据等级与人工确认。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B58B14-4AAB-4F79-A8E4-5242698E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16C"/>
                </a:solidFill>
              </a:defRPr>
            </a:pPr>
            <a:r>
              <a:rPr sz="825" b="1">
                <a:solidFill>
                  <a:srgbClr val="64716C"/>
                </a:solidFill>
              </a:rPr>
              <a:t>OPEN ROSALIND  ·  BIOMEDICAL RESEARCH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8E865E-2619-4A20-8B48-72C4665B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16C"/>
                </a:solidFill>
              </a:defRPr>
            </a:pPr>
            <a:r>
              <a:rPr sz="825" b="1">
                <a:solidFill>
                  <a:srgbClr val="64716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05104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850AA6-5754-4674-A6B2-65991FC0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OUR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2ABCF-AC16-45F1-975D-FFF7ECF0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Open Rosalind 把“回答”升级为可检查的研究过程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C1EBC-5292-4E57-A7CF-168B137A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6C"/>
                </a:solidFill>
              </a:defRPr>
            </a:pPr>
            <a:r>
              <a:rPr sz="1350" b="0">
                <a:solidFill>
                  <a:srgbClr val="64716C"/>
                </a:solidFill>
              </a:rPr>
              <a:t>每个关键结论都能回到文献、数据、代码、环境和执行日志。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0E1F1-0396-4AF8-92AA-7108160A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45C0E-82D5-4889-B539-D7CF9D26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052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B6520-76D2-4973-B573-8F040E12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295400" cy="16002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7B57D-F9EB-40AD-8C79-291A45B5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B7012-D388-46E9-8310-27545F34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1D"/>
                </a:solidFill>
              </a:defRPr>
            </a:pPr>
            <a:r>
              <a:rPr sz="1725" b="1">
                <a:solidFill>
                  <a:srgbClr val="17201D"/>
                </a:solidFill>
              </a:rPr>
              <a:t>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0112D-8F3F-4EB5-8562-E702387E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6C"/>
                </a:solidFill>
              </a:defRPr>
            </a:pPr>
            <a:r>
              <a:rPr sz="1125" b="0">
                <a:solidFill>
                  <a:srgbClr val="64716C"/>
                </a:solidFill>
              </a:rPr>
              <a:t>识别研究问题与风险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9AA58-EBD9-4CA0-ACE1-FD562985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5052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E2F1F-9883-4F64-8E78-EBE65452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24150"/>
            <a:ext cx="1295400" cy="16002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D034A-16CA-4294-96E2-3403E506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956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B8973-142A-4E73-873A-C02E19B7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575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1D"/>
                </a:solidFill>
              </a:defRPr>
            </a:pPr>
            <a:r>
              <a:rPr sz="1725" b="1">
                <a:solidFill>
                  <a:srgbClr val="17201D"/>
                </a:solidFill>
              </a:rPr>
              <a:t>规划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976CC-CCE6-4ADD-861B-276EDCFC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6C"/>
                </a:solidFill>
              </a:defRPr>
            </a:pPr>
            <a:r>
              <a:rPr sz="1125" b="0">
                <a:solidFill>
                  <a:srgbClr val="64716C"/>
                </a:solidFill>
              </a:rPr>
              <a:t>拆成可执行任务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E3229-3F5C-499C-BB96-C6487135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5052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DAFFA-DD0A-411B-9DBC-8CE23CD7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1295400" cy="16002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7DD93-2DD7-4D7F-9250-E9DF55BA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956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43413-481E-469D-815A-A7D4C97E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575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1D"/>
                </a:solidFill>
              </a:defRPr>
            </a:pPr>
            <a:r>
              <a:rPr sz="1725" b="1">
                <a:solidFill>
                  <a:srgbClr val="17201D"/>
                </a:solidFill>
              </a:rPr>
              <a:t>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8B3707-0D09-4FC2-9091-21A73718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7665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6C"/>
                </a:solidFill>
              </a:defRPr>
            </a:pPr>
            <a:r>
              <a:rPr sz="1125" b="0">
                <a:solidFill>
                  <a:srgbClr val="64716C"/>
                </a:solidFill>
              </a:rPr>
              <a:t>核验文献与证据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41257-68A9-4C4C-87B3-797245FA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5052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B444EF-E1F6-4550-BC88-FB30E784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1295400" cy="16002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DDF3EC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26B1B2-3A30-463C-BE3B-E275C1E7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C95E95-23FD-49C0-B877-2C43428A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575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1D"/>
                </a:solidFill>
              </a:defRPr>
            </a:pPr>
            <a:r>
              <a:rPr sz="1725" b="1">
                <a:solidFill>
                  <a:srgbClr val="17201D"/>
                </a:solidFill>
              </a:rPr>
              <a:t>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9DC193-3627-45B2-BD07-D49CCA66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7665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6C"/>
                </a:solidFill>
              </a:defRPr>
            </a:pPr>
            <a:r>
              <a:rPr sz="1125" b="0">
                <a:solidFill>
                  <a:srgbClr val="64716C"/>
                </a:solidFill>
              </a:rPr>
              <a:t>沙箱运行 Python / 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F61BBA-CA51-4192-9A6C-D0E29E4A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5052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9CDD2C-8291-4F11-A0E7-DE042550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1295400" cy="16002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3A1297-BFA8-4D84-A1F0-AE14DF40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759681-7206-47A5-8D68-6AECA3D0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575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1D"/>
                </a:solidFill>
              </a:defRPr>
            </a:pPr>
            <a:r>
              <a:rPr sz="1725" b="1">
                <a:solidFill>
                  <a:srgbClr val="17201D"/>
                </a:solidFill>
              </a:rPr>
              <a:t>沉淀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1727C2-D13B-4299-8276-6331B6FA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7665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6C"/>
                </a:solidFill>
              </a:defRPr>
            </a:pPr>
            <a:r>
              <a:rPr sz="1125" b="0">
                <a:solidFill>
                  <a:srgbClr val="64716C"/>
                </a:solidFill>
              </a:rPr>
              <a:t>保存代码、结果与记忆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E0B82F-A015-4B67-B0A5-6A022149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24150"/>
            <a:ext cx="1295400" cy="16002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7D4184-81C9-4331-9627-A0AA45F1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956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9C15D9-6E16-4BFC-9861-57F4A9A8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575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1D"/>
                </a:solidFill>
              </a:defRPr>
            </a:pPr>
            <a:r>
              <a:rPr sz="1725" b="1">
                <a:solidFill>
                  <a:srgbClr val="17201D"/>
                </a:solidFill>
              </a:rPr>
              <a:t>交付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65BC72-4E87-4253-8EA4-2AEF825D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67665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6C"/>
                </a:solidFill>
              </a:defRPr>
            </a:pPr>
            <a:r>
              <a:rPr sz="1125" b="0">
                <a:solidFill>
                  <a:srgbClr val="64716C"/>
                </a:solidFill>
              </a:rPr>
              <a:t>生成可追溯报告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B22090-92EF-417F-AA1B-FD0D1C82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核心承诺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263774-9969-498A-8497-00B528DF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95825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D"/>
                </a:solidFill>
              </a:defRPr>
            </a:pPr>
            <a:r>
              <a:rPr sz="1650" b="1">
                <a:solidFill>
                  <a:srgbClr val="17201D"/>
                </a:solidFill>
              </a:rPr>
              <a:t>不伪造文献  ·  不虚构运行  ·  不隐藏不确定性  ·  不让高风险结论脱离证据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90F121-0F52-48C6-A93A-E08B96D0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16C"/>
                </a:solidFill>
              </a:defRPr>
            </a:pPr>
            <a:r>
              <a:rPr sz="825" b="1">
                <a:solidFill>
                  <a:srgbClr val="64716C"/>
                </a:solidFill>
              </a:rPr>
              <a:t>OPEN ROSALIND  ·  BIOMEDICAL RESEARCH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63FC1C-1E8D-49F2-B60D-A34FA024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16C"/>
                </a:solidFill>
              </a:defRPr>
            </a:pPr>
            <a:r>
              <a:rPr sz="825" b="1">
                <a:solidFill>
                  <a:srgbClr val="64716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64576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4553E3-95E0-4B55-812E-9E77DE65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PRODUCT 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01F91-A734-4AB2-8D6E-F314CD34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四个版本覆盖从科研入门到机构级可信计算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96BB1-7CDA-43B9-BB1E-9B7B1AC2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6C"/>
                </a:solidFill>
              </a:defRPr>
            </a:pPr>
            <a:r>
              <a:rPr sz="1350" b="0">
                <a:solidFill>
                  <a:srgbClr val="64716C"/>
                </a:solidFill>
              </a:rPr>
              <a:t>界面保持一致，能力随着用户的数据敏感度、自动化需求和治理要求逐级增强。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6E8DE-1D7D-4C4A-B4A5-47BCEACB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80A1F-7DD4-4E57-8127-DAD3C964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16C"/>
                </a:solidFill>
              </a:defRPr>
            </a:pPr>
            <a:r>
              <a:rPr sz="1125" b="1">
                <a:solidFill>
                  <a:srgbClr val="64716C"/>
                </a:solidFill>
              </a:rPr>
              <a:t>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3F423-F818-4678-A034-DA60C04D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28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16C"/>
                </a:solidFill>
              </a:defRPr>
            </a:pPr>
            <a:r>
              <a:rPr sz="1125" b="1">
                <a:solidFill>
                  <a:srgbClr val="64716C"/>
                </a:solidFill>
              </a:rPr>
              <a:t>核心用户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43477-EBC7-4AA2-9E2E-053AD5E0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288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16C"/>
                </a:solidFill>
              </a:defRPr>
            </a:pPr>
            <a:r>
              <a:rPr sz="1125" b="1">
                <a:solidFill>
                  <a:srgbClr val="64716C"/>
                </a:solidFill>
              </a:rPr>
              <a:t>关键能力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3AA73-F3A9-401F-A4D1-929BEB63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288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16C"/>
                </a:solidFill>
              </a:defRPr>
            </a:pPr>
            <a:r>
              <a:rPr sz="1125" b="1">
                <a:solidFill>
                  <a:srgbClr val="64716C"/>
                </a:solidFill>
              </a:rPr>
              <a:t>运行位置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A0776-9D4D-41B7-94D9-12C1C848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D"/>
                </a:solidFill>
              </a:defRPr>
            </a:pPr>
            <a:r>
              <a:rPr sz="1500" b="1">
                <a:solidFill>
                  <a:srgbClr val="17201D"/>
                </a:solidFill>
              </a:rPr>
              <a:t>Edu 入门版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F32B2-F05E-4266-81B7-54D545CA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289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6C"/>
                </a:solidFill>
              </a:defRPr>
            </a:pPr>
            <a:r>
              <a:rPr sz="1200" b="0">
                <a:solidFill>
                  <a:srgbClr val="64716C"/>
                </a:solidFill>
              </a:rPr>
              <a:t>本科生 / 研究生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1E923-63E9-4C88-8510-FFD0EC88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289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6C"/>
                </a:solidFill>
              </a:defRPr>
            </a:pPr>
            <a:r>
              <a:rPr sz="1200" b="0">
                <a:solidFill>
                  <a:srgbClr val="64716C"/>
                </a:solidFill>
              </a:rPr>
              <a:t>论文技能、引用验证、文件问答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5587D-FAC9-40F3-8376-FF74B027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289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6C"/>
                </a:solidFill>
              </a:defRPr>
            </a:pPr>
            <a:r>
              <a:rPr sz="1200" b="0">
                <a:solidFill>
                  <a:srgbClr val="64716C"/>
                </a:solidFill>
              </a:rPr>
              <a:t>云端对话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BDD85-FFD0-4A0D-BD33-DAED3833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62325"/>
            <a:ext cx="1112520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DD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B8EF4-4589-4EF2-B554-C90E9A9D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D"/>
                </a:solidFill>
              </a:defRPr>
            </a:pPr>
            <a:r>
              <a:rPr sz="1500" b="1">
                <a:solidFill>
                  <a:srgbClr val="17201D"/>
                </a:solidFill>
              </a:rPr>
              <a:t>Research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231C1A-CEA3-414B-B769-BFE014BC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099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6C"/>
                </a:solidFill>
              </a:defRPr>
            </a:pPr>
            <a:r>
              <a:rPr sz="1200" b="0">
                <a:solidFill>
                  <a:srgbClr val="64716C"/>
                </a:solidFill>
              </a:rPr>
              <a:t>课题组 / 科研人员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FAA39-EAB9-4C3D-8EE0-472C6A11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099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6C"/>
                </a:solidFill>
              </a:defRPr>
            </a:pPr>
            <a:r>
              <a:rPr sz="1200" b="0">
                <a:solidFill>
                  <a:srgbClr val="64716C"/>
                </a:solidFill>
              </a:rPr>
              <a:t>任务规划、代码执行、项目记忆、证据链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DFE79-7850-43D7-A7B3-B5A06E56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4099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6C"/>
                </a:solidFill>
              </a:defRPr>
            </a:pPr>
            <a:r>
              <a:rPr sz="1200" b="0">
                <a:solidFill>
                  <a:srgbClr val="64716C"/>
                </a:solidFill>
              </a:rPr>
              <a:t>云端沙箱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F1E83-4C26-4626-B2B2-EF8FB47D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D"/>
                </a:solidFill>
              </a:defRPr>
            </a:pPr>
            <a:r>
              <a:rPr sz="1500" b="1">
                <a:solidFill>
                  <a:srgbClr val="17201D"/>
                </a:solidFill>
              </a:rPr>
              <a:t>Research Local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A79DA4-E51A-40DF-961F-6954991D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910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6C"/>
                </a:solidFill>
              </a:defRPr>
            </a:pPr>
            <a:r>
              <a:rPr sz="1200" b="0">
                <a:solidFill>
                  <a:srgbClr val="64716C"/>
                </a:solidFill>
              </a:rPr>
              <a:t>敏感数据 / 大文件用户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4781F-42DA-4DB5-9A14-1D8B2814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910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6C"/>
                </a:solidFill>
              </a:defRPr>
            </a:pPr>
            <a:r>
              <a:rPr sz="1200" b="0">
                <a:solidFill>
                  <a:srgbClr val="64716C"/>
                </a:solidFill>
              </a:rPr>
              <a:t>本地 CPU/GPU、Conda、R、生信工具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8B267E-F3B9-4B7B-8747-FC0E1EC3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910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6C"/>
                </a:solidFill>
              </a:defRPr>
            </a:pPr>
            <a:r>
              <a:rPr sz="1200" b="0">
                <a:solidFill>
                  <a:srgbClr val="64716C"/>
                </a:solidFill>
              </a:rPr>
              <a:t>本地 Runner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7C2D9-2006-4650-8CE0-D47830AB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D"/>
                </a:solidFill>
              </a:defRPr>
            </a:pPr>
            <a:r>
              <a:rPr sz="1500" b="1">
                <a:solidFill>
                  <a:srgbClr val="17201D"/>
                </a:solidFill>
              </a:rPr>
              <a:t>Enterprise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5480FE-9442-41C4-8C0C-0911FDE2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720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6C"/>
                </a:solidFill>
              </a:defRPr>
            </a:pPr>
            <a:r>
              <a:rPr sz="1200" b="0">
                <a:solidFill>
                  <a:srgbClr val="64716C"/>
                </a:solidFill>
              </a:rPr>
              <a:t>医院 / 高校 / 企业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BB9C67-CBC4-4F89-AC6C-92BC45DC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9720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6C"/>
                </a:solidFill>
              </a:defRPr>
            </a:pPr>
            <a:r>
              <a:rPr sz="1200" b="0">
                <a:solidFill>
                  <a:srgbClr val="64716C"/>
                </a:solidFill>
              </a:rPr>
              <a:t>私有 RAG、权限、审计、GPU 与合规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BF7FC2-B934-4FD4-8BC2-2D84BC22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9720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6C"/>
                </a:solidFill>
              </a:defRPr>
            </a:pPr>
            <a:r>
              <a:rPr sz="1200" b="0">
                <a:solidFill>
                  <a:srgbClr val="64716C"/>
                </a:solidFill>
              </a:rPr>
              <a:t>私有部署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CB959B-78EB-4B50-B9CD-3FCBE0A6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16C"/>
                </a:solidFill>
              </a:defRPr>
            </a:pPr>
            <a:r>
              <a:rPr sz="825" b="1">
                <a:solidFill>
                  <a:srgbClr val="64716C"/>
                </a:solidFill>
              </a:rPr>
              <a:t>OPEN ROSALIND  ·  BIOMEDICAL RESEARCH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A68C68-623E-447D-AD1A-28687801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16C"/>
                </a:solidFill>
              </a:defRPr>
            </a:pPr>
            <a:r>
              <a:rPr sz="825" b="1">
                <a:solidFill>
                  <a:srgbClr val="64716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595532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3CF61A-5833-4A80-A4D1-C6D677E4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EDU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2B10B-9E07-404E-800C-9466C71B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Edu 把论文流程拆成初学者能直接使用的技能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BA6C0-11A5-401E-A06E-1FCA99B4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6C"/>
                </a:solidFill>
              </a:defRPr>
            </a:pPr>
            <a:r>
              <a:rPr sz="1350" b="0">
                <a:solidFill>
                  <a:srgbClr val="64716C"/>
                </a:solidFill>
              </a:rPr>
              <a:t>用户无需理解 Agent、Prompt 或工具编排，只需选择当前论文阶段。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44C41-C452-475D-A0F1-8230BC5F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C127A-77B4-4D02-ABEE-4300ED29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9812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38FB2-CE9D-4BA8-9C41-41935CC1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1EB18-893F-47E4-BDFE-C051FCBB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Idea 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28C42-0238-4D31-987F-DDE44FAF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14600"/>
            <a:ext cx="19812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7D878-AD72-40D4-B20E-331632C8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47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2C33B-6614-4284-9AA2-C136D28F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956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文献综述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774BB-9B1F-472F-A8AF-02669624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14600"/>
            <a:ext cx="19812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12DCC-88CD-4D1F-B3B7-2F6924C4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47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5B095-75A3-48E1-97A1-5B6E5786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956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论文大纲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DBC28-3287-41F2-945C-AC29C20E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14600"/>
            <a:ext cx="19812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16710-9010-4739-8E25-6780D6AF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47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94DA3-37BF-4E6A-B839-438A809E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956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引言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170660-BE3C-41A1-9BF4-383BAFBA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14600"/>
            <a:ext cx="19812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1A59A-95C8-4C04-8883-0C1DD8B0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47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F1DD5-6388-40FA-8215-CA453B54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956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方法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AF1DE6-5E2E-4E1C-9FFF-60E4EF39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9812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BA8D5-854A-49D1-A219-A7D9ED21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B2FA51-0A7F-4BF0-8BD8-14AB9307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8D2C2B-919F-4FE6-B3EC-9481BDAE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10000"/>
            <a:ext cx="19812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7A89B4-3CF9-4C20-83C6-E23D2CA0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43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D0E934-AD35-4EA5-B87D-B5C22DF2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910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讨论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081B20-0EA9-401B-8485-037C96CC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10000"/>
            <a:ext cx="19812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C6AF93-9136-46A2-A9EA-5AFFF80C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43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4E04DB-563E-44B4-9D31-A87D0186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910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摘要与标题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4FF950-03C7-4E91-801E-2D6FFCE0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10000"/>
            <a:ext cx="19812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6698DC-1A23-44DC-8FBA-673BE57D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43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070FC6-EFB2-4A37-8B71-7602F756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910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润色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169BAC-F665-4FBB-98B1-FE591AAF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10000"/>
            <a:ext cx="19812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CEDE9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3F2A76-27B4-4A0F-90B5-7D66B499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43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654F"/>
                </a:solidFill>
              </a:defRPr>
            </a:pPr>
            <a:r>
              <a:rPr sz="900" b="1">
                <a:solidFill>
                  <a:srgbClr val="D9654F"/>
                </a:solidFill>
              </a:rPr>
              <a:t>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596D64-53FB-4115-94C8-F20EA2F3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910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参考文献验证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F59888-B49C-474F-8D97-FDB82411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6C"/>
                </a:solidFill>
              </a:defRPr>
            </a:pPr>
            <a:r>
              <a:rPr sz="1350" b="0">
                <a:solidFill>
                  <a:srgbClr val="64716C"/>
                </a:solidFill>
              </a:rPr>
              <a:t>每个入口对应独立 SKILL.md，可扩展、可替换，也兼容 Claude Code / Codex 式技能组织。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EFA80D-AEC6-4305-9E05-09E90642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16C"/>
                </a:solidFill>
              </a:defRPr>
            </a:pPr>
            <a:r>
              <a:rPr sz="825" b="1">
                <a:solidFill>
                  <a:srgbClr val="64716C"/>
                </a:solidFill>
              </a:rPr>
              <a:t>OPEN ROSALIND  ·  BIOMEDICAL RESEARCH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BDE70D-B06C-4535-A547-738930F8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16C"/>
                </a:solidFill>
              </a:defRPr>
            </a:pPr>
            <a:r>
              <a:rPr sz="825" b="1">
                <a:solidFill>
                  <a:srgbClr val="64716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135191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09EE2A-EF2E-4221-BBD9-8BFE56D3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RESEARCH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92A5F-B6FF-49B5-A19F-3E7DE71D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Research Agent 不止聊天，而是持续推进任务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EA2EC-6F8B-44D1-8E8B-2EB8DAED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6C"/>
                </a:solidFill>
              </a:defRPr>
            </a:pPr>
            <a:r>
              <a:rPr sz="1350" b="0">
                <a:solidFill>
                  <a:srgbClr val="64716C"/>
                </a:solidFill>
              </a:rPr>
              <a:t>单一聊天入口背后，是计划、工具、执行、观察、修正与记忆循环。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3477A-3776-4CF8-AA89-7FD1D9C9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1D885-A81A-47EB-BDBE-E01B5A99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7429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248D6-B3FB-4AB2-90DD-FB74E05C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1D"/>
                </a:solidFill>
              </a:defRPr>
            </a:pPr>
            <a:r>
              <a:rPr sz="1125" b="1">
                <a:solidFill>
                  <a:srgbClr val="17201D"/>
                </a:solidFill>
              </a:rPr>
              <a:t>计划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7AE0E-A8C4-4A9D-AABC-F637FC70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241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6C"/>
                </a:solidFill>
              </a:defRPr>
            </a:pPr>
            <a:r>
              <a:rPr sz="1350" b="0">
                <a:solidFill>
                  <a:srgbClr val="64716C"/>
                </a:solidFill>
              </a:rPr>
              <a:t>建立任务树与停止条件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179EE-0886-4C33-95C5-0DB1C484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7429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814C1-4A90-4256-9845-749FEEA4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执行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6D873-DEDC-4515-8306-9A22684D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3847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D"/>
                </a:solidFill>
              </a:defRPr>
            </a:pPr>
            <a:r>
              <a:rPr sz="1350" b="1">
                <a:solidFill>
                  <a:srgbClr val="17201D"/>
                </a:solidFill>
              </a:rPr>
              <a:t>选择文献、文件或代码工具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A58FE-1F37-4934-A60C-82EC9D2D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7429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AD0A4-7EF8-43D1-84A4-A300858E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1D"/>
                </a:solidFill>
              </a:defRPr>
            </a:pPr>
            <a:r>
              <a:rPr sz="1125" b="1">
                <a:solidFill>
                  <a:srgbClr val="17201D"/>
                </a:solidFill>
              </a:rPr>
              <a:t>观察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EDE01-CEAD-4A63-88AB-BEE18FF4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528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6C"/>
                </a:solidFill>
              </a:defRPr>
            </a:pPr>
            <a:r>
              <a:rPr sz="1350" b="0">
                <a:solidFill>
                  <a:srgbClr val="64716C"/>
                </a:solidFill>
              </a:rPr>
              <a:t>读取真实日志与结果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83ED1-264E-4093-BDBB-AB10B11D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7429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3A0F9-6E37-4C43-AD87-0568C04E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1D"/>
                </a:solidFill>
              </a:defRPr>
            </a:pPr>
            <a:r>
              <a:rPr sz="1125" b="1">
                <a:solidFill>
                  <a:srgbClr val="17201D"/>
                </a:solidFill>
              </a:rPr>
              <a:t>反思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8883A-C28A-4B15-842F-DFB4DF33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6722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6C"/>
                </a:solidFill>
              </a:defRPr>
            </a:pPr>
            <a:r>
              <a:rPr sz="1350" b="0">
                <a:solidFill>
                  <a:srgbClr val="64716C"/>
                </a:solidFill>
              </a:rPr>
              <a:t>检查错误、偏倚与证据缺口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12B38-91F5-4CBB-BAD0-400C7FC0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7429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8A606-B599-4CDC-9E10-793B2481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482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1D"/>
                </a:solidFill>
              </a:defRPr>
            </a:pPr>
            <a:r>
              <a:rPr sz="1125" b="1">
                <a:solidFill>
                  <a:srgbClr val="17201D"/>
                </a:solidFill>
              </a:rPr>
              <a:t>记忆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6A5106-6089-4903-B746-2889203A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816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6C"/>
                </a:solidFill>
              </a:defRPr>
            </a:pPr>
            <a:r>
              <a:rPr sz="1350" b="0">
                <a:solidFill>
                  <a:srgbClr val="64716C"/>
                </a:solidFill>
              </a:rPr>
              <a:t>沉淀决策、产物和开放问题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0DCB0-1AB0-4FE0-B0CE-F2C7894D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504825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172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53645-6DEC-49AF-9315-59FF9B72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一次可信执行记录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799BDC-1B4B-4D37-A92F-DFF78F9C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381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5E0"/>
                </a:solidFill>
              </a:defRPr>
            </a:pPr>
            <a:r>
              <a:rPr sz="1425" b="0">
                <a:solidFill>
                  <a:srgbClr val="D9E5E0"/>
                </a:solidFill>
              </a:rPr>
              <a:t>输入文件哈希</a:t>
            </a:r>
          </a:p>
          <a:p xmlns:a="http://schemas.openxmlformats.org/drawingml/2006/main">
            <a:pPr algn="l">
              <a:defRPr sz="1425" b="0">
                <a:solidFill>
                  <a:srgbClr val="D9E5E0"/>
                </a:solidFill>
              </a:defRPr>
            </a:pPr>
            <a:r>
              <a:rPr sz="1425" b="0">
                <a:solidFill>
                  <a:srgbClr val="D9E5E0"/>
                </a:solidFill>
              </a:rPr>
              <a:t>生成代码与版本</a:t>
            </a:r>
          </a:p>
          <a:p xmlns:a="http://schemas.openxmlformats.org/drawingml/2006/main">
            <a:pPr algn="l">
              <a:defRPr sz="1425" b="0">
                <a:solidFill>
                  <a:srgbClr val="D9E5E0"/>
                </a:solidFill>
              </a:defRPr>
            </a:pPr>
            <a:r>
              <a:rPr sz="1425" b="0">
                <a:solidFill>
                  <a:srgbClr val="D9E5E0"/>
                </a:solidFill>
              </a:rPr>
              <a:t>运行环境与依赖</a:t>
            </a:r>
          </a:p>
          <a:p xmlns:a="http://schemas.openxmlformats.org/drawingml/2006/main">
            <a:pPr algn="l">
              <a:defRPr sz="1425" b="0">
                <a:solidFill>
                  <a:srgbClr val="D9E5E0"/>
                </a:solidFill>
              </a:defRPr>
            </a:pPr>
            <a:r>
              <a:rPr sz="1425" b="0">
                <a:solidFill>
                  <a:srgbClr val="D9E5E0"/>
                </a:solidFill>
              </a:rPr>
              <a:t>stdout / stderr</a:t>
            </a:r>
          </a:p>
          <a:p xmlns:a="http://schemas.openxmlformats.org/drawingml/2006/main">
            <a:pPr algn="l">
              <a:defRPr sz="1425" b="0">
                <a:solidFill>
                  <a:srgbClr val="D9E5E0"/>
                </a:solidFill>
              </a:defRPr>
            </a:pPr>
            <a:r>
              <a:rPr sz="1425" b="0">
                <a:solidFill>
                  <a:srgbClr val="D9E5E0"/>
                </a:solidFill>
              </a:rPr>
              <a:t>输出文件与图表</a:t>
            </a:r>
          </a:p>
          <a:p xmlns:a="http://schemas.openxmlformats.org/drawingml/2006/main">
            <a:pPr algn="l">
              <a:defRPr sz="1425" b="0">
                <a:solidFill>
                  <a:srgbClr val="D9E5E0"/>
                </a:solidFill>
              </a:defRPr>
            </a:pPr>
            <a:r>
              <a:rPr sz="1425" b="0">
                <a:solidFill>
                  <a:srgbClr val="D9E5E0"/>
                </a:solidFill>
              </a:rPr>
              <a:t>Agent 解释与人工确认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D8BCD-B0FE-46B6-AC26-FBBBCED8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1432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EB93D3-6DBD-426E-BB7E-4B1558B0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16C"/>
                </a:solidFill>
              </a:defRPr>
            </a:pPr>
            <a:r>
              <a:rPr sz="825" b="1">
                <a:solidFill>
                  <a:srgbClr val="64716C"/>
                </a:solidFill>
              </a:rPr>
              <a:t>OPEN ROSALIND  ·  BIOMEDICAL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997C13-99C2-4DDC-A1BF-29B61960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16C"/>
                </a:solidFill>
              </a:defRPr>
            </a:pPr>
            <a:r>
              <a:rPr sz="825" b="1">
                <a:solidFill>
                  <a:srgbClr val="64716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880798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6CB9CD-18DF-41A7-9231-E77D86F7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TRUST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DC650-AF65-4BEC-A6CE-7475EEDD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可信性不是免责声明，而是系统级能力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EA9C6-9BD6-4017-B952-3FB3A078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6C"/>
                </a:solidFill>
              </a:defRPr>
            </a:pPr>
            <a:r>
              <a:rPr sz="1350" b="0">
                <a:solidFill>
                  <a:srgbClr val="64716C"/>
                </a:solidFill>
              </a:rPr>
              <a:t>文献真实性、论点支持度和计算可复现性分别验证，避免“真实论文也未必支持该结论”。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93E9D-5203-4B16-B2A7-8D9A9FBB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B542D-83A1-4E60-B5A0-FA72035D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D018B-753F-4D70-9208-A8AA72A4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27736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1D"/>
                </a:solidFill>
              </a:defRPr>
            </a:pPr>
            <a:r>
              <a:rPr sz="1575" b="1">
                <a:solidFill>
                  <a:srgbClr val="17201D"/>
                </a:solidFill>
              </a:rPr>
              <a:t>文献存在性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8DD7B-DB3D-42B8-A274-0444D08D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343150"/>
            <a:ext cx="690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6C"/>
                </a:solidFill>
              </a:defRPr>
            </a:pPr>
            <a:r>
              <a:rPr sz="1275" b="0">
                <a:solidFill>
                  <a:srgbClr val="64716C"/>
                </a:solidFill>
              </a:rPr>
              <a:t>通过 DOI、PMID 和可信元数据源检查题名、作者、期刊与年份。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40935-5CE8-41D2-A77F-A7D8CEFE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0AE60-512C-463C-AAB8-D9FB6007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27736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1D"/>
                </a:solidFill>
              </a:defRPr>
            </a:pPr>
            <a:r>
              <a:rPr sz="1575" b="1">
                <a:solidFill>
                  <a:srgbClr val="17201D"/>
                </a:solidFill>
              </a:rPr>
              <a:t>论点支持度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16C6A-E15E-4C87-A158-156847AF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105150"/>
            <a:ext cx="690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6C"/>
                </a:solidFill>
              </a:defRPr>
            </a:pPr>
            <a:r>
              <a:rPr sz="1275" b="0">
                <a:solidFill>
                  <a:srgbClr val="64716C"/>
                </a:solidFill>
              </a:rPr>
              <a:t>区分文献存在、证据类型、研究设计与具体 claim 的支持关系。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58BEB-F2A7-4173-BCD8-DFAF557B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E6874-7454-463A-B667-C7653D96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27736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1D"/>
                </a:solidFill>
              </a:defRPr>
            </a:pPr>
            <a:r>
              <a:rPr sz="1575" b="1">
                <a:solidFill>
                  <a:srgbClr val="17201D"/>
                </a:solidFill>
              </a:rPr>
              <a:t>计算可复现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46425-5DF3-4BB7-852E-F3B43327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867150"/>
            <a:ext cx="690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6C"/>
                </a:solidFill>
              </a:defRPr>
            </a:pPr>
            <a:r>
              <a:rPr sz="1275" b="0">
                <a:solidFill>
                  <a:srgbClr val="64716C"/>
                </a:solidFill>
              </a:rPr>
              <a:t>保存输入哈希、代码、依赖版本、日志、资源限制和生成产物。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16F1E-59CE-4289-AADA-184E8E90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07B32-4847-4651-AE51-9DC856D0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27736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1D"/>
                </a:solidFill>
              </a:defRPr>
            </a:pPr>
            <a:r>
              <a:rPr sz="1575" b="1">
                <a:solidFill>
                  <a:srgbClr val="17201D"/>
                </a:solidFill>
              </a:rPr>
              <a:t>医学风险控制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AD088-0F06-4F7B-9B09-05DC69D1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29150"/>
            <a:ext cx="690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6C"/>
                </a:solidFill>
              </a:defRPr>
            </a:pPr>
            <a:r>
              <a:rPr sz="1275" b="0">
                <a:solidFill>
                  <a:srgbClr val="64716C"/>
                </a:solidFill>
              </a:rPr>
              <a:t>对疗效、安全性、诊断、预后和因果结论提高证据门槛并要求确认。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842CDB-74C1-4211-8CD1-C6B7DE1D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16C"/>
                </a:solidFill>
              </a:defRPr>
            </a:pPr>
            <a:r>
              <a:rPr sz="825" b="1">
                <a:solidFill>
                  <a:srgbClr val="64716C"/>
                </a:solidFill>
              </a:rPr>
              <a:t>OPEN ROSALIND  ·  BIOMEDICAL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96706-8016-402B-B8D2-01E7ACF4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16C"/>
                </a:solidFill>
              </a:defRPr>
            </a:pPr>
            <a:r>
              <a:rPr sz="825" b="1">
                <a:solidFill>
                  <a:srgbClr val="64716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193161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8B2F3A-2D86-45AD-AE2B-65BA9AEA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F5E8C-084E-49AD-B190-A8B710D8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开发阶段用 ECS 跑通闭环，成熟后平滑迁移 ECI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E85E9-B14F-4B88-B0DE-C73720CA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6C"/>
                </a:solidFill>
              </a:defRPr>
            </a:pPr>
            <a:r>
              <a:rPr sz="1350" b="0">
                <a:solidFill>
                  <a:srgbClr val="64716C"/>
                </a:solidFill>
              </a:rPr>
              <a:t>执行后端抽象保持一致，产品无需因基础设施升级而重写。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F6E8C-DA36-4F5F-A095-56DC1BD5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07E5C-93A1-46D1-939B-909CC6A3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528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F1783-E526-4781-9869-8984A690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247900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DEF82-8A99-4133-906B-5DAB8FC4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1D"/>
                </a:solidFill>
              </a:defRPr>
            </a:pPr>
            <a:r>
              <a:rPr sz="1575" b="1">
                <a:solidFill>
                  <a:srgbClr val="17201D"/>
                </a:solidFill>
              </a:rPr>
              <a:t>Web /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11CD6-1A22-40A0-9DAA-FE829A47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16C"/>
                </a:solidFill>
              </a:defRPr>
            </a:pPr>
            <a:r>
              <a:rPr sz="1125" b="0">
                <a:solidFill>
                  <a:srgbClr val="64716C"/>
                </a:solidFill>
              </a:rPr>
              <a:t>对话、项目、权限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85FBB-6F92-4C52-ABAE-DCD4F3F2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528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5D52C-D799-4F85-8369-5DB1E33C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2247900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90F8F-07E5-4F48-8049-349A210E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1D"/>
                </a:solidFill>
              </a:defRPr>
            </a:pPr>
            <a:r>
              <a:rPr sz="1575" b="1">
                <a:solidFill>
                  <a:srgbClr val="17201D"/>
                </a:solidFill>
              </a:rPr>
              <a:t>Task Queue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C036A-9432-4CB1-B24E-0597CCFF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528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16C"/>
                </a:solidFill>
              </a:defRPr>
            </a:pPr>
            <a:r>
              <a:rPr sz="1125" b="0">
                <a:solidFill>
                  <a:srgbClr val="64716C"/>
                </a:solidFill>
              </a:rPr>
              <a:t>排队、取消、重试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6608F-E15F-47FF-9302-BDBB08CC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2C0DF-8E16-4674-BEE9-C8534307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2247900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DDF3EC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0BD67-CB11-407C-8CF3-F27C3E39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1D"/>
                </a:solidFill>
              </a:defRPr>
            </a:pPr>
            <a:r>
              <a:rPr sz="1575" b="1">
                <a:solidFill>
                  <a:srgbClr val="17201D"/>
                </a:solidFill>
              </a:rPr>
              <a:t>Docker Sandbox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8E7C4-3D4F-468D-B94F-68997D63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16C"/>
                </a:solidFill>
              </a:defRPr>
            </a:pPr>
            <a:r>
              <a:rPr sz="1125" b="0">
                <a:solidFill>
                  <a:srgbClr val="64716C"/>
                </a:solidFill>
              </a:rPr>
              <a:t>Python / R / 生信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218AB-B75F-4113-AE9F-BA28D1D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2247900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2AE67-DCE8-40D7-8337-FBBD9520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527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1D"/>
                </a:solidFill>
              </a:defRPr>
            </a:pPr>
            <a:r>
              <a:rPr sz="1575" b="1">
                <a:solidFill>
                  <a:srgbClr val="17201D"/>
                </a:solidFill>
              </a:rPr>
              <a:t>Evidence Store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EE0ADA-BD50-499A-9B49-EFDDFF08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5280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16C"/>
                </a:solidFill>
              </a:defRPr>
            </a:pPr>
            <a:r>
              <a:rPr sz="1125" b="0">
                <a:solidFill>
                  <a:srgbClr val="64716C"/>
                </a:solidFill>
              </a:rPr>
              <a:t>代码、日志、文件、哈希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3F6A04-D598-4557-ADD0-7639CA5F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现在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B9E9B-08D9-4852-89F8-46C311FD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单台 ECS + Docker：最容易 SSH 调试、保留失败现场、快速迭代。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7F2EDA-6BBC-4EC6-8743-7FB9DA66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654F"/>
                </a:solidFill>
              </a:defRPr>
            </a:pPr>
            <a:r>
              <a:rPr sz="1050" b="1">
                <a:solidFill>
                  <a:srgbClr val="D9654F"/>
                </a:solidFill>
              </a:rPr>
              <a:t>以后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B4C078-5CA9-430F-9B95-02FDC2A2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863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ECI / Local Runner：按任务弹性计费，或让敏感数据留在用户本地。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8FB1AB-C22A-4092-9B34-D459B28C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16C"/>
                </a:solidFill>
              </a:defRPr>
            </a:pPr>
            <a:r>
              <a:rPr sz="825" b="1">
                <a:solidFill>
                  <a:srgbClr val="64716C"/>
                </a:solidFill>
              </a:rPr>
              <a:t>OPEN ROSALIND  ·  BIOMEDICAL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AB31F1-1911-48D6-AFD2-70CDD3B2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16C"/>
                </a:solidFill>
              </a:defRPr>
            </a:pPr>
            <a:r>
              <a:rPr sz="825" b="1">
                <a:solidFill>
                  <a:srgbClr val="64716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832784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00A9F4-5D40-4F1F-B913-CB3823A4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BIOMEDICAL MOAT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7D981-16E8-4394-944A-1607BB68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我们的壁垒不是“更多模型”，而是生物医学工作流与证据资产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777CB-0DF9-4258-BA56-DEFEC4EA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6C"/>
                </a:solidFill>
              </a:defRPr>
            </a:pPr>
            <a:r>
              <a:rPr sz="1350" b="0">
                <a:solidFill>
                  <a:srgbClr val="64716C"/>
                </a:solidFill>
              </a:rPr>
              <a:t>通用 Agent 提供执行能力，Open Rosalind 提供领域约束、可信记录和可复用知识。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ABB45-E652-4F5B-9274-076F6FE0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58F07-0836-4166-97D8-C99987F6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1066800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3597B-76F1-4AC5-82CA-8D3521AD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1D"/>
                </a:solidFill>
              </a:defRPr>
            </a:pPr>
            <a:r>
              <a:rPr sz="1575" b="1">
                <a:solidFill>
                  <a:srgbClr val="17201D"/>
                </a:solidFill>
              </a:rPr>
              <a:t>领域 Skills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07565-3C4F-4D1A-924F-1EFD62C4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6C"/>
                </a:solidFill>
              </a:defRPr>
            </a:pPr>
            <a:r>
              <a:rPr sz="1275" b="0">
                <a:solidFill>
                  <a:srgbClr val="64716C"/>
                </a:solidFill>
              </a:rPr>
              <a:t>PICO / PECO、IMRaD、CONSORT、STROBE、PRISMA、ARRIVE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70C5D-FD0B-490C-AE28-4F8655C9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66800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3EC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BC5A5-49E4-4677-B351-2A07B37A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1D"/>
                </a:solidFill>
              </a:defRPr>
            </a:pPr>
            <a:r>
              <a:rPr sz="1575" b="1">
                <a:solidFill>
                  <a:srgbClr val="17201D"/>
                </a:solidFill>
              </a:rPr>
              <a:t>统一 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6F57E-C972-4D07-BE17-721F494B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575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6C"/>
                </a:solidFill>
              </a:defRPr>
            </a:pPr>
            <a:r>
              <a:rPr sz="1275" b="0">
                <a:solidFill>
                  <a:srgbClr val="64716C"/>
                </a:solidFill>
              </a:rPr>
              <a:t>序列、论文、指南、实验记录与机构知识库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0358A-D6D7-4379-B7A5-46C0F933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1066800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D06D7-F612-4EA8-88AC-09EAA809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1D"/>
                </a:solidFill>
              </a:defRPr>
            </a:pPr>
            <a:r>
              <a:rPr sz="1575" b="1">
                <a:solidFill>
                  <a:srgbClr val="17201D"/>
                </a:solidFill>
              </a:rPr>
              <a:t>可信执行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31B26-0505-49F8-BF35-E8D2226E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338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6C"/>
                </a:solidFill>
              </a:defRPr>
            </a:pPr>
            <a:r>
              <a:rPr sz="1275" b="0">
                <a:solidFill>
                  <a:srgbClr val="64716C"/>
                </a:solidFill>
              </a:rPr>
              <a:t>Python、R、生信工具、版本锁定与审计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FBB54-4BFE-4451-9429-FCD0C960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066800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DAFCC-9EE1-4E48-B2CC-FC0B431A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1D"/>
                </a:solidFill>
              </a:defRPr>
            </a:pPr>
            <a:r>
              <a:rPr sz="1575" b="1">
                <a:solidFill>
                  <a:srgbClr val="17201D"/>
                </a:solidFill>
              </a:rPr>
              <a:t>研究记忆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13C6E-C32E-42AD-92C9-5747EA5B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101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6C"/>
                </a:solidFill>
              </a:defRPr>
            </a:pPr>
            <a:r>
              <a:rPr sz="1275" b="0">
                <a:solidFill>
                  <a:srgbClr val="64716C"/>
                </a:solidFill>
              </a:rPr>
              <a:t>假设、决策、失败路径、开放问题与项目产物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ED50B-59BE-4914-ADFE-80C0AADA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16C"/>
                </a:solidFill>
              </a:defRPr>
            </a:pPr>
            <a:r>
              <a:rPr sz="825" b="1">
                <a:solidFill>
                  <a:srgbClr val="64716C"/>
                </a:solidFill>
              </a:rPr>
              <a:t>OPEN ROSALIND  ·  BIOMEDICAL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0D1457-2663-4412-8244-860155FD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16C"/>
                </a:solidFill>
              </a:defRPr>
            </a:pPr>
            <a:r>
              <a:rPr sz="825" b="1">
                <a:solidFill>
                  <a:srgbClr val="64716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211126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190437-9BB4-47B0-A4CD-45C2C2CD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10709-C979-4601-8505-B4A5C296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从论文写作切入，逐步进入真实科研计算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45965-FE0A-415D-8C66-50856853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6C"/>
                </a:solidFill>
              </a:defRPr>
            </a:pPr>
            <a:r>
              <a:rPr sz="1350" b="0">
                <a:solidFill>
                  <a:srgbClr val="64716C"/>
                </a:solidFill>
              </a:rPr>
              <a:t>同一产品承接学习、研究与机构治理，而不是把用户留在一次性聊天中。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2D7BA-1EC7-4637-A47C-D6CE9519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68826-F0C0-41E3-AD92-5A8F2B54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514600" cy="27813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3CE0E-0C53-4AE6-A169-4E12A29C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1D"/>
                </a:solidFill>
              </a:defRPr>
            </a:pPr>
            <a:r>
              <a:rPr sz="1800" b="1">
                <a:solidFill>
                  <a:srgbClr val="17201D"/>
                </a:solidFill>
              </a:rPr>
              <a:t>学生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4B21A-6D1D-40AB-A672-9DF0E4E8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2076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6C"/>
                </a:solidFill>
              </a:defRPr>
            </a:pPr>
            <a:r>
              <a:rPr sz="1275" b="0">
                <a:solidFill>
                  <a:srgbClr val="64716C"/>
                </a:solidFill>
              </a:rPr>
              <a:t>核验 AI 生成的参考文献</a:t>
            </a:r>
          </a:p>
          <a:p xmlns:a="http://schemas.openxmlformats.org/drawingml/2006/main">
            <a:pPr algn="l">
              <a:defRPr sz="1275" b="0">
                <a:solidFill>
                  <a:srgbClr val="64716C"/>
                </a:solidFill>
              </a:defRPr>
            </a:pPr>
            <a:r>
              <a:rPr sz="1275" b="0">
                <a:solidFill>
                  <a:srgbClr val="64716C"/>
                </a:solidFill>
              </a:rPr>
              <a:t>按步骤完成论文初稿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3DFFC-DD87-4FA7-99F9-C6F85384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16C"/>
                </a:solidFill>
              </a:defRPr>
            </a:pPr>
            <a:r>
              <a:rPr sz="900" b="1">
                <a:solidFill>
                  <a:srgbClr val="64716C"/>
                </a:solidFill>
              </a:rPr>
              <a:t>EDU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6588A-F0F2-4A44-9290-F555618A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2514600" cy="27813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DDF3EC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2B588-7877-4528-9B17-B6777431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051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1D"/>
                </a:solidFill>
              </a:defRPr>
            </a:pPr>
            <a:r>
              <a:rPr sz="1800" b="1">
                <a:solidFill>
                  <a:srgbClr val="17201D"/>
                </a:solidFill>
              </a:rPr>
              <a:t>科研人员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3BA39-2FB8-425D-8A6E-F8F2BE67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76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6C"/>
                </a:solidFill>
              </a:defRPr>
            </a:pPr>
            <a:r>
              <a:rPr sz="1275" b="0">
                <a:solidFill>
                  <a:srgbClr val="64716C"/>
                </a:solidFill>
              </a:rPr>
              <a:t>上传数据并运行统计分析</a:t>
            </a:r>
          </a:p>
          <a:p xmlns:a="http://schemas.openxmlformats.org/drawingml/2006/main">
            <a:pPr algn="l">
              <a:defRPr sz="1275" b="0">
                <a:solidFill>
                  <a:srgbClr val="64716C"/>
                </a:solidFill>
              </a:defRPr>
            </a:pPr>
            <a:r>
              <a:rPr sz="1275" b="0">
                <a:solidFill>
                  <a:srgbClr val="64716C"/>
                </a:solidFill>
              </a:rPr>
              <a:t>持续跟踪假设和结果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C85B0-0961-4DBC-B8B7-5D0873B8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62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7433E-8921-4D3E-AC17-6B3E2D40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2514600" cy="27813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FB3AF-EEAA-4594-9EE1-0590EDB2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051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1D"/>
                </a:solidFill>
              </a:defRPr>
            </a:pPr>
            <a:r>
              <a:rPr sz="1800" b="1">
                <a:solidFill>
                  <a:srgbClr val="17201D"/>
                </a:solidFill>
              </a:rPr>
              <a:t>课题组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ADC01-E4DA-4E89-A123-7BAF87EB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71850"/>
            <a:ext cx="2076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6C"/>
                </a:solidFill>
              </a:defRPr>
            </a:pPr>
            <a:r>
              <a:rPr sz="1275" b="0">
                <a:solidFill>
                  <a:srgbClr val="64716C"/>
                </a:solidFill>
              </a:rPr>
              <a:t>共享项目记忆与证据库</a:t>
            </a:r>
          </a:p>
          <a:p xmlns:a="http://schemas.openxmlformats.org/drawingml/2006/main">
            <a:pPr algn="l">
              <a:defRPr sz="1275" b="0">
                <a:solidFill>
                  <a:srgbClr val="64716C"/>
                </a:solidFill>
              </a:defRPr>
            </a:pPr>
            <a:r>
              <a:rPr sz="1275" b="0">
                <a:solidFill>
                  <a:srgbClr val="64716C"/>
                </a:solidFill>
              </a:rPr>
              <a:t>复用分析模板和规范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100D9-FD33-4960-BB11-677D06AC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16C"/>
                </a:solidFill>
              </a:defRPr>
            </a:pPr>
            <a:r>
              <a:rPr sz="900" b="1">
                <a:solidFill>
                  <a:srgbClr val="64716C"/>
                </a:solidFill>
              </a:rPr>
              <a:t>TEAM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33F6C-1E3D-4D51-8FE8-17168688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76500"/>
            <a:ext cx="2514600" cy="27813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4197E7-C743-4442-A82B-3443B998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051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1D"/>
                </a:solidFill>
              </a:defRPr>
            </a:pPr>
            <a:r>
              <a:rPr sz="1800" b="1">
                <a:solidFill>
                  <a:srgbClr val="17201D"/>
                </a:solidFill>
              </a:rPr>
              <a:t>医院 / 企业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4D1FB9-7AF5-4689-8422-C4170DAA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2076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6C"/>
                </a:solidFill>
              </a:defRPr>
            </a:pPr>
            <a:r>
              <a:rPr sz="1275" b="0">
                <a:solidFill>
                  <a:srgbClr val="64716C"/>
                </a:solidFill>
              </a:rPr>
              <a:t>私有部署敏感数据</a:t>
            </a:r>
          </a:p>
          <a:p xmlns:a="http://schemas.openxmlformats.org/drawingml/2006/main">
            <a:pPr algn="l">
              <a:defRPr sz="1275" b="0">
                <a:solidFill>
                  <a:srgbClr val="64716C"/>
                </a:solidFill>
              </a:defRPr>
            </a:pPr>
            <a:r>
              <a:rPr sz="1275" b="0">
                <a:solidFill>
                  <a:srgbClr val="64716C"/>
                </a:solidFill>
              </a:rPr>
              <a:t>权限、审计与合规治理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7DF66D-E3E8-46BF-9472-DCEB5EC6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16C"/>
                </a:solidFill>
              </a:defRPr>
            </a:pPr>
            <a:r>
              <a:rPr sz="900" b="1">
                <a:solidFill>
                  <a:srgbClr val="64716C"/>
                </a:solidFill>
              </a:rPr>
              <a:t>ENTERPRISE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2C96D-98E2-46D8-87A2-6E8CBA52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16C"/>
                </a:solidFill>
              </a:defRPr>
            </a:pPr>
            <a:r>
              <a:rPr sz="825" b="1">
                <a:solidFill>
                  <a:srgbClr val="64716C"/>
                </a:solidFill>
              </a:rPr>
              <a:t>OPEN ROSALIND  ·  BIOMEDICAL RESEARCH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D63A0B-3CBC-4283-9258-AB01EB59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16C"/>
                </a:solidFill>
              </a:defRPr>
            </a:pPr>
            <a:r>
              <a:rPr sz="825" b="1">
                <a:solidFill>
                  <a:srgbClr val="64716C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29139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6D4C5C-9CF7-4791-B494-74A7FF88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FC485-5E4F-4018-B9E1-5B5AAE8D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先完成可信执行闭环，再扩展算力与知识库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F82D2-11FC-4231-857E-ED14E9D8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6C"/>
                </a:solidFill>
              </a:defRPr>
            </a:pPr>
            <a:r>
              <a:rPr sz="1350" b="0">
                <a:solidFill>
                  <a:srgbClr val="64716C"/>
                </a:solidFill>
              </a:rPr>
              <a:t>下一阶段目标不是堆功能，而是让第一段真实代码安全地运行、留痕并被 Agent 正确解释。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0A39E-5D5E-454B-8653-87E91697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A0834-E7A3-43AD-86E5-FACCF0B2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5146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F08A5-DC88-4D44-9CA6-BD7D8544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16C"/>
                </a:solidFill>
              </a:defRPr>
            </a:pPr>
            <a:r>
              <a:rPr sz="1125" b="1">
                <a:solidFill>
                  <a:srgbClr val="64716C"/>
                </a:solidFill>
              </a:rPr>
              <a:t>01  当前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FE1C7-37F5-4ABC-AA02-12D6D799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Edu skills</a:t>
            </a:r>
          </a:p>
          <a:p xmlns:a="http://schemas.openxmlformats.org/drawingml/2006/main">
            <a:pPr algn="l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引用验证</a:t>
            </a:r>
          </a:p>
          <a:p xmlns:a="http://schemas.openxmlformats.org/drawingml/2006/main">
            <a:pPr algn="l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单聊天入口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777AE-CA57-4EF0-841B-5ECFF417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00300"/>
            <a:ext cx="25146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DDF3EC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892AB-82CA-48FF-8AB2-AC4A1ED1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02  开发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7CB0F-036A-42C9-B47C-66BD3C08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2420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ECS Docker 沙箱</a:t>
            </a:r>
          </a:p>
          <a:p xmlns:a="http://schemas.openxmlformats.org/drawingml/2006/main">
            <a:pPr algn="l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任务确认与日志</a:t>
            </a:r>
          </a:p>
          <a:p xmlns:a="http://schemas.openxmlformats.org/drawingml/2006/main">
            <a:pPr algn="l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Python 固定环境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83A81-661D-4234-A666-22F1F125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5146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43382-63D5-4F62-911C-FE62021C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16C"/>
                </a:solidFill>
              </a:defRPr>
            </a:pPr>
            <a:r>
              <a:rPr sz="1125" b="1">
                <a:solidFill>
                  <a:srgbClr val="64716C"/>
                </a:solidFill>
              </a:rPr>
              <a:t>03  内测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36CE2-6171-4389-8D61-3EFAFED8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项目记忆</a:t>
            </a:r>
          </a:p>
          <a:p xmlns:a="http://schemas.openxmlformats.org/drawingml/2006/main">
            <a:pPr algn="l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Redis / PostgreSQL</a:t>
            </a:r>
          </a:p>
          <a:p xmlns:a="http://schemas.openxmlformats.org/drawingml/2006/main">
            <a:pPr algn="l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OSS 结果归档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1A317-2B26-497E-A452-E033F857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00300"/>
            <a:ext cx="25146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DF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F5A7A-FAE0-406A-A4CE-154C14C1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098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16C"/>
                </a:solidFill>
              </a:defRPr>
            </a:pPr>
            <a:r>
              <a:rPr sz="1125" b="1">
                <a:solidFill>
                  <a:srgbClr val="64716C"/>
                </a:solidFill>
              </a:rPr>
              <a:t>04  扩展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97340-464C-43FA-B47F-EA86BAE1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2420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ECI 弹性执行</a:t>
            </a:r>
          </a:p>
          <a:p xmlns:a="http://schemas.openxmlformats.org/drawingml/2006/main">
            <a:pPr algn="l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Local Runner</a:t>
            </a:r>
          </a:p>
          <a:p xmlns:a="http://schemas.openxmlformats.org/drawingml/2006/main">
            <a:pPr algn="l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统一生物医学 RAG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F8CF7A-9A7C-45F7-B418-17D65467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BEDB4-28AB-45F9-9815-C74F419A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Open Rosalind：让每个科研结论都能回到证据，让每次计算都能被复现。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5D419-9721-46A8-B59D-111B982B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16C"/>
                </a:solidFill>
              </a:defRPr>
            </a:pPr>
            <a:r>
              <a:rPr sz="825" b="1">
                <a:solidFill>
                  <a:srgbClr val="64716C"/>
                </a:solidFill>
              </a:rPr>
              <a:t>OPEN ROSALIND  ·  BIOMEDICAL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337BBF-BA6A-4A23-A7C1-44CEDA69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16C"/>
                </a:solidFill>
              </a:defRPr>
            </a:pPr>
            <a:r>
              <a:rPr sz="825" b="1">
                <a:solidFill>
                  <a:srgbClr val="64716C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86420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2026-07-12T06:54:35.1930000Z</dcterms:created>
  <dcterms:modified xsi:type="dcterms:W3CDTF">2026-07-12T06:54:35.1930000Z</dcterms:modified>
</coreProperties>
</file>